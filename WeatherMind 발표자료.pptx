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0" r:id="rId4"/>
    <p:sldId id="282" r:id="rId5"/>
    <p:sldId id="283" r:id="rId6"/>
    <p:sldId id="284" r:id="rId7"/>
    <p:sldId id="285" r:id="rId8"/>
    <p:sldId id="286" r:id="rId9"/>
    <p:sldId id="288" r:id="rId10"/>
    <p:sldId id="268" r:id="rId11"/>
    <p:sldId id="287" r:id="rId12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A5E"/>
    <a:srgbClr val="F3ECDC"/>
    <a:srgbClr val="E76F51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0704-418A-42A8-B767-71FC43B0918A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E997E-8190-4D82-86DC-FE0D784C8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8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1AEB8F-97AB-4D52-9978-85C6494D41E0}"/>
              </a:ext>
            </a:extLst>
          </p:cNvPr>
          <p:cNvSpPr txBox="1"/>
          <p:nvPr userDrawn="1"/>
        </p:nvSpPr>
        <p:spPr>
          <a:xfrm>
            <a:off x="1354157" y="1653313"/>
            <a:ext cx="9483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기상</a:t>
            </a:r>
            <a:r>
              <a:rPr lang="ko-KR" altLang="en-US" sz="5400" b="1" dirty="0" err="1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기후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해커톤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경진대회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5123A-5876-4A69-91B8-D4D5182FF61C}"/>
              </a:ext>
            </a:extLst>
          </p:cNvPr>
          <p:cNvSpPr txBox="1"/>
          <p:nvPr userDrawn="1"/>
        </p:nvSpPr>
        <p:spPr>
          <a:xfrm>
            <a:off x="1517801" y="350120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프로젝트명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3B1A-711B-4C9C-A54E-C1F461C74791}"/>
              </a:ext>
            </a:extLst>
          </p:cNvPr>
          <p:cNvSpPr txBox="1"/>
          <p:nvPr userDrawn="1"/>
        </p:nvSpPr>
        <p:spPr>
          <a:xfrm>
            <a:off x="1517801" y="4122113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 err="1">
                <a:solidFill>
                  <a:srgbClr val="F3ECDC"/>
                </a:solidFill>
                <a:latin typeface="+mj-ea"/>
                <a:ea typeface="+mj-ea"/>
              </a:rPr>
              <a:t>팀명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C9A37-82F9-48F4-B02D-008F91CCD2E3}"/>
              </a:ext>
            </a:extLst>
          </p:cNvPr>
          <p:cNvSpPr txBox="1"/>
          <p:nvPr userDrawn="1"/>
        </p:nvSpPr>
        <p:spPr>
          <a:xfrm>
            <a:off x="1517801" y="4743022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결과물 </a:t>
            </a:r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URL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5C146-79C6-43F2-B429-1E96AF12F936}"/>
              </a:ext>
            </a:extLst>
          </p:cNvPr>
          <p:cNvSpPr txBox="1"/>
          <p:nvPr userDrawn="1"/>
        </p:nvSpPr>
        <p:spPr>
          <a:xfrm>
            <a:off x="1517801" y="5363930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발표자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7A9BE40-1B9A-44EC-815C-CDB3DDB49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6323" y="3515502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D700112A-8E80-4A44-8018-E7FBCDB20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6323" y="4136411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ADEC1D49-B4EB-4025-8B2B-0F584C025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6323" y="4763583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 및 표지 필수 기재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09F741B2-080E-47F6-BE11-888EAA85F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23" y="5378228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3030E-3450-4E6E-981D-F738A0B4A794}"/>
              </a:ext>
            </a:extLst>
          </p:cNvPr>
          <p:cNvSpPr/>
          <p:nvPr userDrawn="1"/>
        </p:nvSpPr>
        <p:spPr>
          <a:xfrm>
            <a:off x="1517800" y="2606369"/>
            <a:ext cx="91564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6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1D16D-A60E-436E-8DFD-19757DBA4EB5}"/>
              </a:ext>
            </a:extLst>
          </p:cNvPr>
          <p:cNvSpPr txBox="1"/>
          <p:nvPr userDrawn="1"/>
        </p:nvSpPr>
        <p:spPr>
          <a:xfrm>
            <a:off x="4272424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8B0727-89E1-4E63-A27D-0AD368A2F4CB}"/>
              </a:ext>
            </a:extLst>
          </p:cNvPr>
          <p:cNvSpPr/>
          <p:nvPr userDrawn="1"/>
        </p:nvSpPr>
        <p:spPr>
          <a:xfrm>
            <a:off x="4198070" y="3458726"/>
            <a:ext cx="379586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76A7-A708-47A5-B184-A260C6B97D1B}"/>
              </a:ext>
            </a:extLst>
          </p:cNvPr>
          <p:cNvSpPr txBox="1"/>
          <p:nvPr userDrawn="1"/>
        </p:nvSpPr>
        <p:spPr>
          <a:xfrm>
            <a:off x="4875153" y="3896636"/>
            <a:ext cx="24416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0" dirty="0">
                <a:solidFill>
                  <a:srgbClr val="F3ECDC"/>
                </a:solidFill>
                <a:latin typeface="+mj-ea"/>
                <a:ea typeface="+mj-ea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409011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4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팀 및 결과물 기본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8DDD3F-FB3F-4F18-839F-C29BDCC32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92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DDB0E97-6316-4A0C-B265-BD114253F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11FE98CB-41F7-4DD0-8F02-1B92269A99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499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E4AA64-0452-4EC4-AA5F-1BE587C4F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7FE64648-02D4-45B0-8606-7020E78DD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98927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87E9C-A654-4F17-8BEE-06563E6786FF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895F8A-EC22-44D0-8B1B-87A20C89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83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7970-E004-4559-8E24-E6B3B8906483}"/>
              </a:ext>
            </a:extLst>
          </p:cNvPr>
          <p:cNvSpPr txBox="1"/>
          <p:nvPr userDrawn="1"/>
        </p:nvSpPr>
        <p:spPr>
          <a:xfrm>
            <a:off x="695325" y="66737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243A5E"/>
                </a:solidFill>
                <a:latin typeface="+mj-ea"/>
                <a:ea typeface="+mj-ea"/>
              </a:rPr>
              <a:t>I </a:t>
            </a:r>
            <a:r>
              <a:rPr lang="ko-KR" altLang="en-US" sz="2400" b="1" dirty="0">
                <a:solidFill>
                  <a:srgbClr val="243A5E"/>
                </a:solidFill>
                <a:latin typeface="+mj-ea"/>
                <a:ea typeface="+mj-ea"/>
              </a:rPr>
              <a:t>발표 자료 가이드 라인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ACDA-41BD-4F81-B47D-36F3F0EED278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2C6C439-B5BD-4294-9193-AAA46B502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7721D-3748-4F22-935E-59022A26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BD5AD-BBA7-4B77-A43A-29AF3565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61F4A-886A-4754-899D-7B35E937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5C46-0311-4688-9CA5-7847BCE3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9C4D-CFC2-4C3C-8DB8-5710BEED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F282-9284-40F9-9DEB-E1E9D1CB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D96F-33B4-4E8C-A426-2BCA46C7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21BD3-8D5D-41EE-AC33-C61BFA2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2456C-F7A3-412C-BCEC-A32CC4A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F49CB-E06A-4D36-B52E-BF4A2CF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9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94528-83D7-46FD-9AC8-665694F2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5D25-A6A4-48F0-A862-ECF2E7BC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12EE4-53D5-45EA-BED3-FD991C91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1DDFE-134E-42D1-BB98-29F8F11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9AB72-1B66-44A1-9805-44A7C856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D2497-C25D-470D-92CA-C039E878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0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A2287-3A24-4A9B-A25C-531CC26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FB798-5B87-4DD3-94D6-BEFC388C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DFEC1-F453-4A2E-A832-DEED20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371965-04E9-436F-B256-D1401C65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1F59A6-D04C-4F7E-9946-599FA5E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017B9-CCA4-42F7-B39F-FFF2CE7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B15B95-5DD7-4399-8EBC-FA0DA649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93FF6A-3BA0-4773-8398-722E07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70173-A86C-487C-A787-FF29ACA9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5E747-9B22-41B0-8718-C277D12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540313-FB3C-4C0E-80BC-E8B6536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761E5-6E32-4B78-8E21-9398D728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504F72-5EE4-42BC-A125-51B4FF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580218-30C8-4F48-B7E0-09D1497E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77B4D-3229-48D0-A626-3703A0C2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4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E0F5B-8895-426F-B5C5-52CFB3F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6C6F-BE04-4F13-BEC6-E0EAEDCE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E29C7-041E-4A84-AE5D-269ACD80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DDF39-D622-4A00-9F7B-0CCAA6C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C52D2-2DE1-476F-8614-DA7D5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2CC28-BBA0-4F98-856B-30A1FE5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83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DCCD-97CD-48C5-9C72-A9CDB50A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355B30-69BD-4F2B-9EF6-B2B1A38E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439DBE-EC05-4A3C-AB44-24C354CE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C58D7-4282-4696-9A7D-B3EC93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ACE517-5683-4E62-90F7-4669A241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E488-DDB4-4992-B7BB-3862EA94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0F54-4970-4D4D-951B-C8E2B9D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613-2EE1-492C-B78C-E20142F2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32238-F504-4187-9E88-D5398C29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3F913-FBC0-425B-B90D-A6B04785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FB53F-D184-4BEE-B37A-04B8B52C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EB6B8F-8EC3-45A6-942F-CAAEE7E76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1181A-43D6-4990-AF25-41F9E5E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DB4D7-5165-4439-B29F-2DDD7DCF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A07BB-E505-454E-BC13-482524C2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17651-7F62-4663-9FA8-E32951C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2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E973C7-576A-4EBA-A6B8-8356D8D1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DB594-0434-4770-B5CD-47382B60B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FE65D-BC72-4133-B8FD-F2CEC7D99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DCC6F-9151-45BF-9AC8-E56F08361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7C69-832B-493D-A1F5-06B01782B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84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1" r:id="rId4"/>
    <p:sldLayoutId id="2147483664" r:id="rId5"/>
    <p:sldLayoutId id="2147483666" r:id="rId6"/>
    <p:sldLayoutId id="2147483667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D265396-D6A5-4E03-B4DF-ACA0FECB2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WeatherMind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77D18B4-3BB8-416E-9C54-F3174EE5C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WeatherMind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15EE85F-2DED-4DDE-B24D-6321F38D82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6322" y="4763583"/>
            <a:ext cx="8006398" cy="371513"/>
          </a:xfrm>
        </p:spPr>
        <p:txBody>
          <a:bodyPr/>
          <a:lstStyle/>
          <a:p>
            <a:r>
              <a:rPr dirty="0"/>
              <a:t>[</a:t>
            </a:r>
            <a:r>
              <a:rPr lang="en-US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9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dirty="0" err="1"/>
              <a:t>배포</a:t>
            </a:r>
            <a:r>
              <a:rPr dirty="0"/>
              <a:t> 후 </a:t>
            </a:r>
            <a:r>
              <a:rPr dirty="0" err="1"/>
              <a:t>접속</a:t>
            </a:r>
            <a:r>
              <a:rPr dirty="0"/>
              <a:t> URL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 — </a:t>
            </a:r>
            <a:r>
              <a:rPr dirty="0" err="1"/>
              <a:t>현재</a:t>
            </a:r>
            <a:r>
              <a:rPr dirty="0"/>
              <a:t> localhost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]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DDB9B2A-74DB-4588-A828-D5E52F5C5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강현우</a:t>
            </a:r>
          </a:p>
        </p:txBody>
      </p:sp>
    </p:spTree>
    <p:extLst>
      <p:ext uri="{BB962C8B-B14F-4D97-AF65-F5344CB8AC3E}">
        <p14:creationId xmlns:p14="http://schemas.microsoft.com/office/powerpoint/2010/main" val="10771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E44EC2-EFEC-4FD7-B852-DC26E5339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 </a:t>
            </a:r>
            <a:r>
              <a:rPr lang="ko-KR" altLang="en-US" dirty="0"/>
              <a:t>결과물 및 팀 기본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B8884-3C95-4B01-9701-49C80C6C5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621607"/>
              </p:ext>
            </p:extLst>
          </p:nvPr>
        </p:nvGraphicFramePr>
        <p:xfrm>
          <a:off x="695325" y="1834221"/>
          <a:ext cx="5912866" cy="447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285">
                  <a:extLst>
                    <a:ext uri="{9D8B030D-6E8A-4147-A177-3AD203B41FA5}">
                      <a16:colId xmlns:a16="http://schemas.microsoft.com/office/drawing/2014/main" val="586554776"/>
                    </a:ext>
                  </a:extLst>
                </a:gridCol>
                <a:gridCol w="4539581">
                  <a:extLst>
                    <a:ext uri="{9D8B030D-6E8A-4147-A177-3AD203B41FA5}">
                      <a16:colId xmlns:a16="http://schemas.microsoft.com/office/drawing/2014/main" val="969126144"/>
                    </a:ext>
                  </a:extLst>
                </a:gridCol>
              </a:tblGrid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WeatherMind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87245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WeatherMind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AI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체험·참여형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기상·기후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26789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결과물 접속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URL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[배포 후 접속 URL 입력 예정 — 현재 localhost 개발 서버]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83240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한 줄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오늘의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날씨로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배우는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 연령 대상 AI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체험형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기상·기후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22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48080B-6C64-460A-B146-BE3F10BF41DA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결과물 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F249-7C5F-41C6-B25B-769B40D71A76}"/>
              </a:ext>
            </a:extLst>
          </p:cNvPr>
          <p:cNvSpPr txBox="1"/>
          <p:nvPr/>
        </p:nvSpPr>
        <p:spPr>
          <a:xfrm>
            <a:off x="6931843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팀</a:t>
            </a:r>
            <a:r>
              <a:rPr lang="en-US" altLang="ko-KR" sz="1600" b="1" dirty="0">
                <a:solidFill>
                  <a:srgbClr val="243A5E"/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원</a:t>
            </a:r>
            <a:r>
              <a:rPr lang="en-US" altLang="ko-KR" sz="1600" b="1" dirty="0">
                <a:solidFill>
                  <a:srgbClr val="243A5E"/>
                </a:solidFill>
              </a:rPr>
              <a:t>) </a:t>
            </a:r>
            <a:r>
              <a:rPr lang="ko-KR" altLang="en-US" sz="1600" b="1" dirty="0">
                <a:solidFill>
                  <a:srgbClr val="243A5E"/>
                </a:solidFill>
              </a:rPr>
              <a:t>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8A93D-B596-453E-B7AD-10652D7A9AFA}"/>
              </a:ext>
            </a:extLst>
          </p:cNvPr>
          <p:cNvSpPr txBox="1"/>
          <p:nvPr/>
        </p:nvSpPr>
        <p:spPr>
          <a:xfrm>
            <a:off x="7145515" y="1726793"/>
            <a:ext cx="3714163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강현우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팀장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기획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및 개발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최지현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기획 및 디자인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4E886-5123-4BC2-B466-2D03FCDE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36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학습 대상 분석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B9B69-CD13-4ABA-89B7-714CC4BFB1BF}"/>
              </a:ext>
            </a:extLst>
          </p:cNvPr>
          <p:cNvSpPr/>
          <p:nvPr/>
        </p:nvSpPr>
        <p:spPr>
          <a:xfrm>
            <a:off x="773729" y="1810606"/>
            <a:ext cx="6074111" cy="4127970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대상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초등학생 · 중·고등학생 · 일반 성인(기후관심층)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지식 수준 6단계 × 표현 톤 3종 — 두 축을 분리해 자동 분기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선정 이유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기상교육은 교과서 · 영상 중심의 정적 콘텐츠로 실시간 체험이 어려움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전문 기상 데이터 활용 장벽을 낮춰 전 연령이 데이터를 직접 탐구하도록 설계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난이도 차등화 — 2022 개정 교육과정 정박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지식 축 6단계 : 초3~4 · 초5~6 · 중학 물질에너지 · 중학 유체지구 · 고교 · 전문가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성취기준 코드까지 대조해 문항 237건을 전수 분류 (예: 전선 = [9과17-04])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톤 축 3종 : 같은 개념을 어린이 · 청소년 · 성인 어투로 — 난이도와 독립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적용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개념별 이해도를 분석해 문제 난이도를 실시간 조정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내 정보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페이지에서 능력 분석 결과 제공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287-3CD4-4307-84DA-D9AB62A182C9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대상과 난이도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5F5DAC-2887-D6FD-22A1-2FEEE861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" r="2429"/>
          <a:stretch>
            <a:fillRect/>
          </a:stretch>
        </p:blipFill>
        <p:spPr>
          <a:xfrm>
            <a:off x="7046863" y="4051390"/>
            <a:ext cx="3576320" cy="24976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42EB10-2FDB-CEDC-108B-D369E9B7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63" y="1545078"/>
            <a:ext cx="4503487" cy="242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3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문제 정의 및 분석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주제 적합성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39DF-756A-4E6A-AD22-E947033D59E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다루는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개념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5AF997-4027-4587-9DE0-F2F8CAC57DE9}"/>
              </a:ext>
            </a:extLst>
          </p:cNvPr>
          <p:cNvSpPr/>
          <p:nvPr/>
        </p:nvSpPr>
        <p:spPr>
          <a:xfrm>
            <a:off x="763570" y="1801366"/>
            <a:ext cx="5125166" cy="403672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핵심 개념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기압·전선·태풍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기단·대기순환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열섬효과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CO₂와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기후변화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이상기후 인과관계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커리큘럼(2코스 · 7섹션 · 20유닛)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① 하늘 읽기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고기압 · 저기압 · 전선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② 공기의 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· 계절풍 · 기단 변질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③ 큰 바람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태풍 · 집중호우 · 이상기후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④ 도시와 기후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열섬현상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· 온실효과 · 기후변화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학습 구조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 기초과학 코스(온도·열·복사·압력·상태변화) → 기상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코스로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이어지는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선수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구조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61FE07-854A-44C9-B054-CD4DF9D05556}"/>
              </a:ext>
            </a:extLst>
          </p:cNvPr>
          <p:cNvSpPr/>
          <p:nvPr/>
        </p:nvSpPr>
        <p:spPr>
          <a:xfrm>
            <a:off x="6303264" y="1801367"/>
            <a:ext cx="5125166" cy="2785864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실시간 기상 퀴즈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기상청 실황(기온·강수확률·하늘상태)을 문항에 실시간 주입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문항 코드에 생성 날짜 표기 </a:t>
            </a:r>
            <a:r>
              <a:rPr lang="en-US" altLang="ko-KR" sz="1200" i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i="1" dirty="0">
                <a:solidFill>
                  <a:schemeClr val="tx1"/>
                </a:solidFill>
                <a:latin typeface="+mn-ea"/>
              </a:rPr>
              <a:t>예</a:t>
            </a:r>
            <a:r>
              <a:rPr lang="en-US" altLang="ko-KR" sz="1200" i="1" dirty="0">
                <a:solidFill>
                  <a:schemeClr val="tx1"/>
                </a:solidFill>
                <a:latin typeface="+mn-ea"/>
              </a:rPr>
              <a:t>: #20260806)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예보 대결 — 매일 문제가 바뀌는 축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오늘의 실황으로 내일을 예측하고, 내일의 실제 관측이 정답을 정함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선택한 근거를 바탕으로 예측 이유를 스스로 설명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구조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단수 정답 암기가 아닌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실제 기상데이터를 근거로 </a:t>
            </a:r>
            <a:r>
              <a:rPr lang="ko-KR" altLang="en-US" sz="12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기압·전선·기단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     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     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등 핵심 개념을 이해하도록 설계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865F0-8E23-45CF-A2AE-A46E3641491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중 주제 인식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980EA3-A15B-647D-3992-8CDA99A0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337" y="4683870"/>
            <a:ext cx="2066099" cy="19409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5538CD-4204-3387-F401-39330A2CC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71" y="4683870"/>
            <a:ext cx="3550060" cy="19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2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아이디어 도출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아이디어 독창성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2C525-A8A5-4BC9-974B-CDB882122563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차별화 포인트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3CE83-9F51-4381-9B10-B4B02CB3D987}"/>
              </a:ext>
            </a:extLst>
          </p:cNvPr>
          <p:cNvSpPr/>
          <p:nvPr/>
        </p:nvSpPr>
        <p:spPr>
          <a:xfrm>
            <a:off x="763569" y="1801367"/>
            <a:ext cx="7313631" cy="138887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매일 바뀌는 학습 콘텐츠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오늘의 날씨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매일 새로운 교재가 되는 학습 구조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함께 성장하는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학습 데이터를 반영해 맞춤 추천 성능 지속 향상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근거 주입형 AI : 교과 개념 문서를 직접 주입해 환각 없는 원리 중심 피드백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자체 학습자 모델 : IRT 문항반응이론 + BKT 지식추적을 직접 구현 — 습관·탐구·적응을 한 엔진에서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D71CAD-7DBD-4A18-9BBC-EF7E61C95575}"/>
              </a:ext>
            </a:extLst>
          </p:cNvPr>
          <p:cNvSpPr/>
          <p:nvPr/>
        </p:nvSpPr>
        <p:spPr>
          <a:xfrm>
            <a:off x="763569" y="4002338"/>
            <a:ext cx="7313632" cy="1388872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개 인터랙티브 모듈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 퀴즈 · 대기 보드 · 예보 대결 · 기상 리그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대기 보드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기상요소를 직접 배치해 목표 날씨를 만드는 시뮬레이션 퍼즐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이상기후 재현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2018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서울 폭염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2020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최장 장마 등 실제 사례 기반 학습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333DD-0B00-4716-9907-EA19D8AE674F}"/>
              </a:ext>
            </a:extLst>
          </p:cNvPr>
          <p:cNvSpPr txBox="1"/>
          <p:nvPr/>
        </p:nvSpPr>
        <p:spPr>
          <a:xfrm>
            <a:off x="763569" y="3558431"/>
            <a:ext cx="509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새로운 학습 경험과 </a:t>
            </a:r>
            <a:r>
              <a:rPr lang="ko-KR" altLang="en-US" sz="1600" b="1" dirty="0" err="1">
                <a:solidFill>
                  <a:srgbClr val="243A5E"/>
                </a:solidFill>
              </a:rPr>
              <a:t>인터렉션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2422ADE-BAF7-CDE8-3655-4558FA51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1" y="3743097"/>
            <a:ext cx="3786806" cy="186151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B19ED3-BB75-4074-7ACF-36C44B9B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201" y="1475579"/>
            <a:ext cx="3786806" cy="192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7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25F57-79A1-487A-9B9B-DB80AFF0BD3F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조작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선택과</a:t>
            </a:r>
            <a:r>
              <a:rPr lang="ko-KR" altLang="en-US" sz="1600" b="1" dirty="0">
                <a:solidFill>
                  <a:srgbClr val="243A5E"/>
                </a:solidFill>
              </a:rPr>
              <a:t> 학습 개념의 연계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BA7C6-A9C7-45E9-8639-8B9BBAAF5193}"/>
              </a:ext>
            </a:extLst>
          </p:cNvPr>
          <p:cNvSpPr/>
          <p:nvPr/>
        </p:nvSpPr>
        <p:spPr>
          <a:xfrm>
            <a:off x="763570" y="1801367"/>
            <a:ext cx="5200350" cy="139903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대기 보드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기상요소를 직접 배치해 목표 날씨를 만드는 시뮬레이션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조작 결과 즉시 반영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구름 · 강수 변화로 학습 효과 시각화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개념 적용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기단 변질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전선 형성 등 학습 개념과 조작을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예보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대결·리그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예측값과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실제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관측값을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비교하며 예보 불확실성 체험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A3589-B7F1-4D9D-BC79-DFC4623843F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요소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89F36-F387-B2D1-E698-43865B153181}"/>
              </a:ext>
            </a:extLst>
          </p:cNvPr>
          <p:cNvSpPr/>
          <p:nvPr/>
        </p:nvSpPr>
        <p:spPr>
          <a:xfrm>
            <a:off x="6303264" y="1801366"/>
            <a:ext cx="5125166" cy="139903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다양한 문항 유형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객관식 · 순서 배열형 · 슬라이더 입력형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자유 탐구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자유 실험 모드 및 탐구 실험실 제공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빠른 접근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홈 화면에서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 콘텐츠 바로 시작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08C510-1B23-A680-43E4-7B485A17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64" y="3429001"/>
            <a:ext cx="5119679" cy="24583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C62B1A-6BED-4197-38AD-43973349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57" y="3429000"/>
            <a:ext cx="5194863" cy="25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1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학습 성과와 학습적 피드백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3FC62-F864-4C9F-A90B-09C29A7B196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성과와 피드백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74FD1-2FF0-4693-9C1C-96D50627453F}"/>
              </a:ext>
            </a:extLst>
          </p:cNvPr>
          <p:cNvSpPr/>
          <p:nvPr/>
        </p:nvSpPr>
        <p:spPr>
          <a:xfrm>
            <a:off x="763570" y="1801367"/>
            <a:ext cx="10664860" cy="2108368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학습적 피드백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결정적 채점 + AI 해설 : 7유형 규칙 채점(재현 가능) 위에 개념 근거 해설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학습 유도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정답 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XP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획득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오답 시 개념 복습 안내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망각곡선 기반 복습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다시 볼 개념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카드로 복습 시점 자동 추천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성과 관리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능력 분석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개념별 이해도 시각화 및 취약 개념 분석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게이미피케이션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XP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· 레벨 ·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스트릭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· 배지 · 일일 퀘스트로 학습 지속 유도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6" name="Picture 15" descr="10_quiz_correct_feedback.jpg"/>
          <p:cNvPicPr>
            <a:picLocks noChangeAspect="1"/>
          </p:cNvPicPr>
          <p:nvPr/>
        </p:nvPicPr>
        <p:blipFill>
          <a:blip r:embed="rId2"/>
          <a:srcRect r="6056"/>
          <a:stretch>
            <a:fillRect/>
          </a:stretch>
        </p:blipFill>
        <p:spPr>
          <a:xfrm>
            <a:off x="763570" y="3988551"/>
            <a:ext cx="5515310" cy="24423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705CD0-A317-DC42-7494-07D5831BD7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9"/>
          <a:stretch>
            <a:fillRect/>
          </a:stretch>
        </p:blipFill>
        <p:spPr>
          <a:xfrm>
            <a:off x="6370319" y="4035178"/>
            <a:ext cx="4246881" cy="239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구현 완성도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구현 완성도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데이터 반영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3570" y="1801367"/>
            <a:ext cx="6673550" cy="125679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기상청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종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API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연동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단기예보 · 중기예보 · 과거관측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자동 데이터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수집·캐싱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Celery Beat + Redis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 최신 데이터 반영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실시간 서비스 연계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수신 상태를 화면에 표시하고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퀴즈·리그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콘텐츠 자동 생성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실화 재현 : 기록적 폭염 · 최장 장마를 보드 퍼즐로 재현 — 판정은 서버 규칙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6060BCA-E2EF-608E-E9DA-4EB6DD0E9620}"/>
              </a:ext>
            </a:extLst>
          </p:cNvPr>
          <p:cNvGrpSpPr/>
          <p:nvPr/>
        </p:nvGrpSpPr>
        <p:grpSpPr>
          <a:xfrm>
            <a:off x="630779" y="3799841"/>
            <a:ext cx="6673550" cy="1812296"/>
            <a:chOff x="630779" y="3271634"/>
            <a:chExt cx="6673550" cy="181229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F8FA0BB-8FD3-432D-8721-19EAAD195D1E}"/>
                </a:ext>
              </a:extLst>
            </p:cNvPr>
            <p:cNvSpPr/>
            <p:nvPr/>
          </p:nvSpPr>
          <p:spPr>
            <a:xfrm>
              <a:off x="630779" y="3701458"/>
              <a:ext cx="6673550" cy="1382472"/>
            </a:xfrm>
            <a:prstGeom prst="rect">
              <a:avLst/>
            </a:prstGeom>
            <a:solidFill>
              <a:srgbClr val="EFF5FB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▎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• AI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이중 레이어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LangChain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체인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(Router ·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피드백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· Quiz Gen) +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결정적 품질 게이트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2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단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▎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•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근거 주입형 피드백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교과 개념 문서를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concept_tag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로 직접 주입해 환각 없는 맞춤 해설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·</a:t>
              </a:r>
              <a:br>
                <a:rPr lang="en-US" altLang="ko-KR" sz="12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WeatherBrain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+ Gemini 3.1 Flash-Lite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▎ •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채점은 결정적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해설은 생성형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7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유형 규칙 채점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+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보드는 서버가 규칙 파일로 재판정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그 위에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해설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E0E4E2-2FB2-49BF-8D48-DF916F2E6444}"/>
                </a:ext>
              </a:extLst>
            </p:cNvPr>
            <p:cNvSpPr txBox="1"/>
            <p:nvPr/>
          </p:nvSpPr>
          <p:spPr>
            <a:xfrm>
              <a:off x="763570" y="3271634"/>
              <a:ext cx="4034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243A5E"/>
                  </a:solidFill>
                </a:rPr>
                <a:t>●</a:t>
              </a:r>
              <a:r>
                <a:rPr lang="ko-KR" altLang="en-US" dirty="0">
                  <a:solidFill>
                    <a:srgbClr val="F3ECDC"/>
                  </a:solidFill>
                </a:rPr>
                <a:t>● </a:t>
              </a:r>
              <a:r>
                <a:rPr lang="en-US" altLang="ko-KR" sz="1600" b="1" dirty="0">
                  <a:solidFill>
                    <a:srgbClr val="243A5E"/>
                  </a:solidFill>
                </a:rPr>
                <a:t>AI</a:t>
              </a:r>
              <a:r>
                <a:rPr lang="ko-KR" altLang="en-US" sz="1600" b="1" dirty="0">
                  <a:solidFill>
                    <a:srgbClr val="243A5E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243A5E"/>
                  </a:solidFill>
                </a:rPr>
                <a:t>도구</a:t>
              </a:r>
              <a:r>
                <a:rPr lang="ko-KR" altLang="en-US" sz="1600" b="1" dirty="0" err="1">
                  <a:solidFill>
                    <a:srgbClr val="243A5E"/>
                  </a:solidFill>
                  <a:latin typeface="페이퍼로지 8 ExtraBold" pitchFamily="2" charset="-127"/>
                  <a:ea typeface="페이퍼로지 8 ExtraBold" pitchFamily="2" charset="-127"/>
                </a:rPr>
                <a:t>∙</a:t>
              </a:r>
              <a:r>
                <a:rPr lang="ko-KR" altLang="en-US" sz="1600" b="1" dirty="0" err="1">
                  <a:solidFill>
                    <a:srgbClr val="243A5E"/>
                  </a:solidFill>
                </a:rPr>
                <a:t>기술</a:t>
              </a:r>
              <a:r>
                <a:rPr lang="ko-KR" altLang="en-US" sz="1600" b="1" dirty="0">
                  <a:solidFill>
                    <a:srgbClr val="243A5E"/>
                  </a:solidFill>
                </a:rPr>
                <a:t> 활용</a:t>
              </a:r>
              <a:endParaRPr lang="ko-KR" altLang="en-US" sz="1600" dirty="0">
                <a:solidFill>
                  <a:srgbClr val="F3ECDC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A783F4C4-1E47-CE1D-BB3E-60465525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79" y="3850399"/>
            <a:ext cx="4306270" cy="20434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759D2A6-72EE-B683-7BFB-AC5671068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79" y="1218925"/>
            <a:ext cx="4306270" cy="242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0E27-11BA-D873-2D40-3D79FFF6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3EAE3E8E-D0B0-52A9-984C-1F95DD3654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 추가 계획 및 운영 구조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513900-D0DE-BAF5-388B-DF95A7E01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E6EA41C8-AD53-BD64-99FF-9EF6B22497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(7) 향후 계획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30E22-FB42-FB38-1955-CC37D6F7CD5D}"/>
              </a:ext>
            </a:extLst>
          </p:cNvPr>
          <p:cNvSpPr txBox="1"/>
          <p:nvPr/>
        </p:nvSpPr>
        <p:spPr>
          <a:xfrm>
            <a:off x="768096" y="1353312"/>
            <a:ext cx="1060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●● 배포 이후 계획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353F05-635C-BC7C-CB89-8A2A6316AB9B}"/>
              </a:ext>
            </a:extLst>
          </p:cNvPr>
          <p:cNvSpPr/>
          <p:nvPr/>
        </p:nvSpPr>
        <p:spPr>
          <a:xfrm>
            <a:off x="768096" y="1801368"/>
            <a:ext cx="10607040" cy="1691640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실서버 배포(8/9) 후 일주일 실운영 — 학습 로그를 축적해 문항 난이도(IRT b) 재보정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BKT 지식추적 서비스 배선 :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합성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검증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(숙련 AUC 0.929) → 실학습자 추적으로 확장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피드백 개인화 : 개념별 능력(θ)·약점·직전 오답 이력을 해설 생성에 주입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콘텐츠 확장 : 6단계 기준 문항 237건 → 1,500건, 기초과학 코스 개통 · 재난 대응 축 확대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실황 심화 : 주입된 기상 수치가 정답을 바꾸는 문항 — 같은 문항이 날마다 달라지는 구조</a:t>
            </a:r>
          </a:p>
        </p:txBody>
      </p:sp>
    </p:spTree>
    <p:extLst>
      <p:ext uri="{BB962C8B-B14F-4D97-AF65-F5344CB8AC3E}">
        <p14:creationId xmlns:p14="http://schemas.microsoft.com/office/powerpoint/2010/main" val="10416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0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 추가 계획 및 운영 구조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(7) 향후 계획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8096" y="3749039"/>
            <a:ext cx="1060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●● 운영 비용 구조</a:t>
            </a:r>
          </a:p>
        </p:txBody>
      </p:sp>
      <p:sp>
        <p:nvSpPr>
          <p:cNvPr id="4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8096" y="4197096"/>
            <a:ext cx="10607040" cy="1691640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서버 : 4GB VM 1대에 전 서비스 7종 + DB·캐시 — 월 약 5만원 (컨테이너 이미지 배포)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AI 변동비 : 세션 1회(15문항) 약 130원 — 피드백 생성 16콜 기준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이용자당 월 : 주 3회 학습 시 약 1,550원 · 문항 생성은 1회성이라 재생성 비용 0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절감 여지 : 정답 시 해설을 결정적 문구로 전환하면 호출이 절반 — 실운영 로그로 판단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무키 동작 : 외부 AI·기상 API가 끊겨도 전 기능이 폴백으로 계속 동작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1653</TotalTime>
  <Words>1214</Words>
  <Application>Microsoft Macintosh PowerPoint</Application>
  <PresentationFormat>와이드스크린</PresentationFormat>
  <Paragraphs>128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페이퍼로지 8 ExtraBold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강현우</cp:lastModifiedBy>
  <cp:revision>154</cp:revision>
  <cp:lastPrinted>2026-07-31T07:23:24Z</cp:lastPrinted>
  <dcterms:created xsi:type="dcterms:W3CDTF">2026-07-24T07:24:55Z</dcterms:created>
  <dcterms:modified xsi:type="dcterms:W3CDTF">2026-08-07T05:44:04Z</dcterms:modified>
</cp:coreProperties>
</file>